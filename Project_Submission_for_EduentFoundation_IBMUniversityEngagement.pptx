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5"/>
  </p:notesMasterIdLst>
  <p:sldIdLst>
    <p:sldId id="283" r:id="rId3"/>
    <p:sldId id="257" r:id="rId4"/>
    <p:sldId id="282" r:id="rId6"/>
    <p:sldId id="284" r:id="rId7"/>
    <p:sldId id="285" r:id="rId8"/>
    <p:sldId id="281" r:id="rId9"/>
    <p:sldId id="279" r:id="rId10"/>
    <p:sldId id="262" r:id="rId11"/>
    <p:sldId id="264" r:id="rId12"/>
    <p:sldId id="277" r:id="rId13"/>
    <p:sldId id="286" r:id="rId14"/>
    <p:sldId id="287" r:id="rId15"/>
    <p:sldId id="280" r:id="rId16"/>
    <p:sldId id="276"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AAD8F4D-43EB-41E5-8A38-28AB6DFB1B60}"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86"/>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8"/>
        <p:cNvGrpSpPr/>
        <p:nvPr/>
      </p:nvGrpSpPr>
      <p:grpSpPr>
        <a:xfrm>
          <a:off x="0" y="0"/>
          <a:ext cx="0" cy="0"/>
          <a:chOff x="0" y="0"/>
          <a:chExt cx="0" cy="0"/>
        </a:xfrm>
      </p:grpSpPr>
      <p:sp>
        <p:nvSpPr>
          <p:cNvPr id="129" name="Google Shape;129;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30" name="Google Shape;130;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7"/>
        <p:cNvGrpSpPr/>
        <p:nvPr/>
      </p:nvGrpSpPr>
      <p:grpSpPr>
        <a:xfrm>
          <a:off x="0" y="0"/>
          <a:ext cx="0" cy="0"/>
          <a:chOff x="0" y="0"/>
          <a:chExt cx="0" cy="0"/>
        </a:xfrm>
      </p:grpSpPr>
      <p:sp>
        <p:nvSpPr>
          <p:cNvPr id="198" name="Google Shape;19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9" name="Google Shape;19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hyperlink" Target="https://watsonx.ai/"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panose="020F0502020204030204"/>
              <a:buNone/>
            </a:pPr>
            <a:endParaRPr sz="15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panose="02020603050405020304"/>
              <a:buNone/>
            </a:pPr>
            <a:endParaRPr sz="3200" b="1" i="0" u="none" strike="noStrike" cap="none" dirty="0">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96" name="Google Shape;96;p2"/>
          <p:cNvGraphicFramePr/>
          <p:nvPr/>
        </p:nvGraphicFramePr>
        <p:xfrm>
          <a:off x="1299257" y="2600315"/>
          <a:ext cx="9394989" cy="2167128"/>
        </p:xfrm>
        <a:graphic>
          <a:graphicData uri="http://schemas.openxmlformats.org/drawingml/2006/table">
            <a:tbl>
              <a:tblPr>
                <a:noFill/>
                <a:tableStyleId>{0AAD8F4D-43EB-41E5-8A38-28AB6DFB1B60}</a:tableStyleId>
              </a:tblPr>
              <a:tblGrid>
                <a:gridCol w="2064867"/>
                <a:gridCol w="2443374"/>
                <a:gridCol w="2443374"/>
                <a:gridCol w="2443374"/>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dirty="0">
                          <a:solidFill>
                            <a:srgbClr val="000000"/>
                          </a:solidFill>
                          <a:latin typeface="Arial" panose="020B0604020202020204"/>
                          <a:ea typeface="Calibri" panose="020F0502020204030204"/>
                          <a:cs typeface="Arial" panose="020B0604020202020204"/>
                          <a:sym typeface="Calibri" panose="020F0502020204030204"/>
                        </a:rPr>
                        <a:t>Email ID </a:t>
                      </a:r>
                      <a:endParaRPr sz="1800" b="0" i="0" u="none" strike="noStrike" cap="none" dirty="0">
                        <a:solidFill>
                          <a:srgbClr val="000000"/>
                        </a:solidFill>
                        <a:latin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panose="020F0502020204030204"/>
                        <a:buNone/>
                      </a:pPr>
                      <a:r>
                        <a:rPr lang="en-US" sz="1800" b="0" i="0" u="none" strike="noStrike" cap="none" dirty="0">
                          <a:solidFill>
                            <a:srgbClr val="000000"/>
                          </a:solidFill>
                          <a:latin typeface="Arial" panose="020B0604020202020204"/>
                          <a:ea typeface="Calibri" panose="020F0502020204030204"/>
                          <a:cs typeface="Arial" panose="020B0604020202020204"/>
                          <a:sym typeface="Calibri" panose="020F0502020204030204"/>
                        </a:rPr>
                        <a:t>Mobile number</a:t>
                      </a:r>
                      <a:endParaRPr sz="1800" b="0" i="0" u="none" strike="noStrike" cap="none" dirty="0">
                        <a:solidFill>
                          <a:srgbClr val="000000"/>
                        </a:solidFill>
                        <a:latin typeface="Arial" panose="020B0604020202020204"/>
                        <a:cs typeface="Arial" panose="020B0604020202020204"/>
                        <a:sym typeface="Arial" panose="020B0604020202020204"/>
                      </a:endParaRPr>
                    </a:p>
                    <a:p>
                      <a:pPr marL="0" marR="0" lvl="0" indent="0" algn="ctr" rtl="0">
                        <a:lnSpc>
                          <a:spcPct val="100000"/>
                        </a:lnSpc>
                        <a:spcBef>
                          <a:spcPts val="0"/>
                        </a:spcBef>
                        <a:spcAft>
                          <a:spcPts val="0"/>
                        </a:spcAft>
                        <a:buClr>
                          <a:schemeClr val="lt1"/>
                        </a:buClr>
                        <a:buSzPts val="1800"/>
                        <a:buFont typeface="Calibri" panose="020F0502020204030204"/>
                        <a:buNone/>
                      </a:pPr>
                      <a:r>
                        <a:rPr lang="en-US" sz="1800" b="0" i="0" u="none" strike="noStrike" cap="none" dirty="0">
                          <a:solidFill>
                            <a:srgbClr val="000000"/>
                          </a:solidFill>
                          <a:latin typeface="Arial" panose="020B0604020202020204"/>
                          <a:ea typeface="Calibri" panose="020F0502020204030204"/>
                          <a:cs typeface="Arial" panose="020B0604020202020204"/>
                          <a:sym typeface="Calibri" panose="020F0502020204030204"/>
                        </a:rPr>
                        <a:t>[WhatsApp] </a:t>
                      </a:r>
                      <a:endParaRPr sz="1800" b="0" i="0" u="none" strike="noStrike" cap="none" dirty="0">
                        <a:solidFill>
                          <a:srgbClr val="000000"/>
                        </a:solidFill>
                        <a:latin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r>
              <a:tr h="1193891">
                <a:tc>
                  <a:txBody>
                    <a:bodyPr/>
                    <a:lstStyle/>
                    <a:p>
                      <a:pPr marL="0" marR="0" lvl="0" indent="0" algn="l" rtl="0">
                        <a:spcBef>
                          <a:spcPts val="0"/>
                        </a:spcBef>
                        <a:spcAft>
                          <a:spcPts val="0"/>
                        </a:spcAft>
                        <a:buNone/>
                      </a:pPr>
                      <a:r>
                        <a:rPr lang="en-US" dirty="0"/>
                        <a:t>Sreeja Lingampally</a:t>
                      </a:r>
                      <a:endParaRPr lang="en-US"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lingampallysreeja2@gmail.com</a:t>
                      </a:r>
                      <a:endParaRPr lang="en-US"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8247062342</a:t>
                      </a:r>
                      <a:endParaRPr lang="en-US"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r>
            </a:tbl>
          </a:graphicData>
        </a:graphic>
      </p:graphicFrame>
      <p:sp>
        <p:nvSpPr>
          <p:cNvPr id="4" name="TextBox 3"/>
          <p:cNvSpPr txBox="1"/>
          <p:nvPr/>
        </p:nvSpPr>
        <p:spPr>
          <a:xfrm>
            <a:off x="1206164" y="1460724"/>
            <a:ext cx="10280254" cy="460375"/>
          </a:xfrm>
          <a:prstGeom prst="rect">
            <a:avLst/>
          </a:prstGeom>
          <a:noFill/>
        </p:spPr>
        <p:txBody>
          <a:bodyPr wrap="square" rtlCol="0">
            <a:spAutoFit/>
          </a:bodyPr>
          <a:lstStyle/>
          <a:p>
            <a:r>
              <a:rPr lang="en-US" sz="2400" b="1" dirty="0"/>
              <a:t>Domain of  Project – </a:t>
            </a:r>
            <a:r>
              <a:rPr lang="en-US" altLang="en-US" sz="2400" b="1" dirty="0"/>
              <a:t>FinTech / Banking</a:t>
            </a:r>
            <a:endParaRPr lang="en-US" altLang="en-US" sz="2400" b="1" dirty="0"/>
          </a:p>
        </p:txBody>
      </p:sp>
      <p:sp>
        <p:nvSpPr>
          <p:cNvPr id="7" name="TextBox 6"/>
          <p:cNvSpPr txBox="1"/>
          <p:nvPr/>
        </p:nvSpPr>
        <p:spPr>
          <a:xfrm>
            <a:off x="1206162" y="551965"/>
            <a:ext cx="9581177" cy="829945"/>
          </a:xfrm>
          <a:prstGeom prst="rect">
            <a:avLst/>
          </a:prstGeom>
          <a:noFill/>
        </p:spPr>
        <p:txBody>
          <a:bodyPr wrap="square" rtlCol="0">
            <a:spAutoFit/>
          </a:bodyPr>
          <a:lstStyle/>
          <a:p>
            <a:r>
              <a:rPr lang="en-US" sz="2400" b="1" dirty="0"/>
              <a:t>Project Tile – </a:t>
            </a:r>
            <a:r>
              <a:rPr lang="en-US" altLang="en-US" sz="2400" b="1" dirty="0"/>
              <a:t>XLoan-AI: An Explainable and Fair AI System for Transparent Loan Decisions</a:t>
            </a:r>
            <a:endParaRPr lang="en-US" altLang="en-US" sz="2400" b="1" dirty="0"/>
          </a:p>
        </p:txBody>
      </p:sp>
      <p:pic>
        <p:nvPicPr>
          <p:cNvPr id="2" name="Picture 1" descr="Photo"/>
          <p:cNvPicPr>
            <a:picLocks noChangeAspect="1"/>
          </p:cNvPicPr>
          <p:nvPr/>
        </p:nvPicPr>
        <p:blipFill>
          <a:blip r:embed="rId1"/>
          <a:stretch>
            <a:fillRect/>
          </a:stretch>
        </p:blipFill>
        <p:spPr>
          <a:xfrm>
            <a:off x="4150360" y="3713480"/>
            <a:ext cx="1040130" cy="8128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p:cNvSpPr txBox="1"/>
          <p:nvPr/>
        </p:nvSpPr>
        <p:spPr>
          <a:xfrm>
            <a:off x="576072" y="1234440"/>
            <a:ext cx="10607040" cy="4399915"/>
          </a:xfrm>
          <a:prstGeom prst="rect">
            <a:avLst/>
          </a:prstGeom>
          <a:noFill/>
        </p:spPr>
        <p:txBody>
          <a:bodyPr wrap="square" rtlCol="0">
            <a:spAutoFit/>
          </a:bodyPr>
          <a:lstStyle/>
          <a:p>
            <a:pPr fontAlgn="base"/>
            <a:r>
              <a:rPr lang="en-US" b="1" dirty="0"/>
              <a:t>Problem Statement : </a:t>
            </a:r>
            <a:r>
              <a:rPr lang="en-IN" altLang="en-US" b="1" dirty="0"/>
              <a:t>XLOAN-AI</a:t>
            </a:r>
            <a:endParaRPr lang="en-US" dirty="0"/>
          </a:p>
          <a:p>
            <a:pPr fontAlgn="base"/>
            <a:endParaRPr lang="en-US" b="1" dirty="0"/>
          </a:p>
          <a:p>
            <a:pPr fontAlgn="base"/>
            <a:r>
              <a:rPr lang="en-US" b="1" dirty="0"/>
              <a:t>The Challenge</a:t>
            </a:r>
            <a:r>
              <a:rPr lang="en-US" dirty="0"/>
              <a:t> </a:t>
            </a:r>
            <a:r>
              <a:rPr lang="en-IN" altLang="en-US" dirty="0"/>
              <a:t>: T</a:t>
            </a:r>
            <a:r>
              <a:rPr lang="en-US" altLang="en-US" dirty="0"/>
              <a:t>he "Black-Box" Lending Crisis</a:t>
            </a:r>
            <a:endParaRPr lang="en-US" altLang="en-US" dirty="0"/>
          </a:p>
          <a:p>
            <a:pPr fontAlgn="base"/>
            <a:r>
              <a:rPr lang="en-US" altLang="en-US" dirty="0"/>
              <a:t>Traditional and current loan approval systems suffer from critical flaws that harm both customers and financial institutions.</a:t>
            </a:r>
            <a:endParaRPr lang="en-US" altLang="en-US" dirty="0"/>
          </a:p>
          <a:p>
            <a:pPr fontAlgn="base"/>
            <a:r>
              <a:rPr lang="en-US" altLang="en-US" dirty="0"/>
              <a:t>Lack of Transparency: Applicants cannot understand why their loan was rejected, leading to frustration and financial exclusion.</a:t>
            </a:r>
            <a:endParaRPr lang="en-US" altLang="en-US" dirty="0"/>
          </a:p>
          <a:p>
            <a:pPr fontAlgn="base"/>
            <a:r>
              <a:rPr lang="en-US" altLang="en-US" dirty="0"/>
              <a:t>Algorithmic Bias: Legacy systems and standard ML models often perpetuate historical biases against groups based on gender, region, or income (violating fair lending laws).</a:t>
            </a:r>
            <a:endParaRPr lang="en-US" altLang="en-US" dirty="0"/>
          </a:p>
          <a:p>
            <a:pPr fontAlgn="base"/>
            <a:r>
              <a:rPr lang="en-US" altLang="en-US" dirty="0"/>
              <a:t>No Actionable Feedback: Rejected applicants receive a simple "No" with zero guidance on how to improve their chances in the future.</a:t>
            </a:r>
            <a:endParaRPr lang="en-US" altLang="en-US" dirty="0"/>
          </a:p>
          <a:p>
            <a:pPr fontAlgn="base"/>
            <a:r>
              <a:rPr lang="en-US" altLang="en-US" dirty="0"/>
              <a:t>Regulatory Risk: Banks face heavy fines for non-compliance with RBI and other fair lending regulations due to unexplainable AI decisions.</a:t>
            </a:r>
            <a:endParaRPr lang="en-US" altLang="en-US" dirty="0"/>
          </a:p>
          <a:p>
            <a:pPr fontAlgn="base"/>
            <a:endParaRPr lang="en-US" altLang="en-US" dirty="0"/>
          </a:p>
          <a:p>
            <a:pPr fontAlgn="base"/>
            <a:r>
              <a:rPr lang="en-US" altLang="en-US" dirty="0"/>
              <a:t>The Objective: XLoan-AI - A Responsible AI Decision-Support System</a:t>
            </a:r>
            <a:endParaRPr lang="en-US" altLang="en-US" dirty="0"/>
          </a:p>
          <a:p>
            <a:pPr fontAlgn="base"/>
            <a:r>
              <a:rPr lang="en-US" altLang="en-US" dirty="0"/>
              <a:t>To build a multi-agent AI system that ensures fair, transparent, and actionable loan approvals while keeping a "human-in-the-loop."</a:t>
            </a:r>
            <a:endParaRPr lang="en-US" altLang="en-US" dirty="0"/>
          </a:p>
          <a:p>
            <a:pPr fontAlgn="base"/>
            <a:r>
              <a:rPr lang="en-US" altLang="en-US" dirty="0"/>
              <a:t>Key Capabilities:</a:t>
            </a:r>
            <a:endParaRPr lang="en-US" altLang="en-US" dirty="0"/>
          </a:p>
          <a:p>
            <a:pPr fontAlgn="base"/>
            <a:r>
              <a:rPr lang="en-US" altLang="en-US" dirty="0"/>
              <a:t>Explainable Decisions: Use SHAP values to translate complex model logic into human-readable reasons for approval/rejection.</a:t>
            </a:r>
            <a:endParaRPr lang="en-US" altLang="en-US" dirty="0"/>
          </a:p>
          <a:p>
            <a:pPr fontAlgn="base"/>
            <a:r>
              <a:rPr lang="en-US" altLang="en-US" dirty="0"/>
              <a:t>Fairness by Design: Monitor real-time bias using Statistical Parity and Disparate Impact metrics across sensitive attributes.</a:t>
            </a:r>
            <a:endParaRPr lang="en-US" altLang="en-US" dirty="0"/>
          </a:p>
          <a:p>
            <a:pPr fontAlgn="base"/>
            <a:r>
              <a:rPr lang="en-US" altLang="en-US" dirty="0"/>
              <a:t>Actionable Counterfactuals: Tell rejected applicants exactly what to change (e.g., "Increase credit score by 30 points").</a:t>
            </a:r>
            <a:endParaRPr lang="en-US" altLang="en-US" dirty="0"/>
          </a:p>
          <a:p>
            <a:pPr fontAlgn="base"/>
            <a:r>
              <a:rPr lang="en-US" altLang="en-US" dirty="0"/>
              <a:t>Decision Support: Final approval authority remains with human lenders, ensuring AI augments rather than replaces judgment.</a:t>
            </a:r>
            <a:endParaRPr lang="en-US" altLang="en-US" dirty="0"/>
          </a:p>
          <a:p>
            <a:endParaRPr lang="en-IN" dirty="0"/>
          </a:p>
        </p:txBody>
      </p:sp>
      <p:sp>
        <p:nvSpPr>
          <p:cNvPr id="3" name="TextBox 2"/>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p:cNvSpPr txBox="1"/>
          <p:nvPr/>
        </p:nvSpPr>
        <p:spPr>
          <a:xfrm>
            <a:off x="667512" y="1165753"/>
            <a:ext cx="10607040" cy="1814830"/>
          </a:xfrm>
          <a:prstGeom prst="rect">
            <a:avLst/>
          </a:prstGeom>
          <a:noFill/>
        </p:spPr>
        <p:txBody>
          <a:bodyPr wrap="square" rtlCol="0">
            <a:spAutoFit/>
          </a:bodyPr>
          <a:lstStyle/>
          <a:p>
            <a:pPr fontAlgn="base"/>
            <a:endParaRPr lang="en-US" b="1" dirty="0"/>
          </a:p>
          <a:p>
            <a:pPr fontAlgn="base"/>
            <a:r>
              <a:rPr lang="en-IN" b="1" dirty="0"/>
              <a:t>Tech Stack </a:t>
            </a:r>
            <a:endParaRPr lang="en-IN" dirty="0"/>
          </a:p>
          <a:p>
            <a:pPr fontAlgn="base"/>
            <a:r>
              <a:rPr lang="en-IN" dirty="0"/>
              <a:t>I used </a:t>
            </a:r>
            <a:r>
              <a:rPr lang="en-IN" dirty="0" err="1">
                <a:highlight>
                  <a:srgbClr val="FFFF00"/>
                </a:highlight>
              </a:rPr>
              <a:t>LangFlow</a:t>
            </a:r>
            <a:r>
              <a:rPr lang="en-IN" dirty="0">
                <a:highlight>
                  <a:srgbClr val="FFFF00"/>
                </a:highlight>
              </a:rPr>
              <a:t> + IBM watsonx.ai + Granite Models </a:t>
            </a:r>
            <a:endParaRPr lang="en-IN" dirty="0">
              <a:highlight>
                <a:srgbClr val="FFFF00"/>
              </a:highlight>
            </a:endParaRPr>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
        <p:nvSpPr>
          <p:cNvPr id="6" name="Text Box 5"/>
          <p:cNvSpPr txBox="1"/>
          <p:nvPr/>
        </p:nvSpPr>
        <p:spPr>
          <a:xfrm>
            <a:off x="3556000" y="1903730"/>
            <a:ext cx="5080000" cy="542290"/>
          </a:xfrm>
          <a:prstGeom prst="rect">
            <a:avLst/>
          </a:prstGeom>
        </p:spPr>
        <p:txBody>
          <a:bodyPr>
            <a:spAutoFit/>
          </a:bodyPr>
          <a:p>
            <a:pPr marL="0" indent="0">
              <a:spcBef>
                <a:spcPts val="800"/>
              </a:spcBef>
              <a:spcAft>
                <a:spcPts val="800"/>
              </a:spcAft>
            </a:pPr>
            <a:r>
              <a:rPr lang="en-US" altLang="zh-CN" sz="800" b="0" i="0">
                <a:solidFill>
                  <a:srgbClr val="F9FAFB"/>
                </a:solidFill>
                <a:latin typeface="quote-cjk-patch"/>
                <a:ea typeface="quote-cjk-patch"/>
              </a:rPr>
              <a:t>Technology Used: LangFlow + IBM</a:t>
            </a:r>
            <a:r>
              <a:rPr lang="en-US" altLang="zh-CN" sz="800" b="0" i="0">
                <a:solidFill>
                  <a:srgbClr val="F9FAFB"/>
                </a:solidFill>
                <a:latin typeface="quote-cjk-patch"/>
                <a:ea typeface="quote-cjk-patch"/>
              </a:rPr>
              <a:t> </a:t>
            </a:r>
            <a:r>
              <a:rPr lang="en-US" altLang="zh-CN" sz="800" b="0" i="0">
                <a:solidFill>
                  <a:srgbClr val="679EFE"/>
                </a:solidFill>
                <a:latin typeface="quote-cjk-patch"/>
                <a:ea typeface="quote-cjk-patch"/>
                <a:hlinkClick r:id="rId1"/>
              </a:rPr>
              <a:t>watsonx.ai</a:t>
            </a:r>
            <a:r>
              <a:rPr lang="en-US" altLang="zh-CN" sz="800" b="0" i="0">
                <a:solidFill>
                  <a:srgbClr val="F9FAFB"/>
                </a:solidFill>
                <a:latin typeface="quote-cjk-patch"/>
                <a:ea typeface="quote-cjk-patch"/>
              </a:rPr>
              <a:t> </a:t>
            </a:r>
            <a:r>
              <a:rPr lang="en-US" altLang="zh-CN" sz="800" b="0" i="0">
                <a:solidFill>
                  <a:srgbClr val="F9FAFB"/>
                </a:solidFill>
                <a:latin typeface="quote-cjk-patch"/>
                <a:ea typeface="quote-cjk-patch"/>
              </a:rPr>
              <a:t>+ Granite Models</a:t>
            </a:r>
            <a:endParaRPr lang="en-US" altLang="zh-CN" sz="800" b="0" i="0">
              <a:solidFill>
                <a:srgbClr val="F9FAFB"/>
              </a:solidFill>
              <a:latin typeface="quote-cjk-patch"/>
              <a:ea typeface="quote-cjk-patch"/>
            </a:endParaRPr>
          </a:p>
          <a:p>
            <a:pPr marL="0" indent="0">
              <a:spcBef>
                <a:spcPts val="800"/>
              </a:spcBef>
              <a:spcAft>
                <a:spcPts val="800"/>
              </a:spcAft>
            </a:pPr>
            <a:r>
              <a:rPr lang="en-US" altLang="zh-CN" sz="800" b="0" i="0">
                <a:solidFill>
                  <a:srgbClr val="F9FAFB"/>
                </a:solidFill>
                <a:latin typeface="quote-cjk-patch"/>
                <a:ea typeface="quote-cjk-patch"/>
              </a:rPr>
              <a:t>This solution leverages IBM's enterprise-grade AI stack for governance and accuracy.</a:t>
            </a:r>
            <a:endParaRPr lang="en-US" altLang="zh-CN"/>
          </a:p>
        </p:txBody>
      </p:sp>
      <p:graphicFrame>
        <p:nvGraphicFramePr>
          <p:cNvPr id="7" name="Table 6"/>
          <p:cNvGraphicFramePr/>
          <p:nvPr/>
        </p:nvGraphicFramePr>
        <p:xfrm>
          <a:off x="982345" y="2242820"/>
          <a:ext cx="9784080" cy="4178300"/>
        </p:xfrm>
        <a:graphic>
          <a:graphicData uri="http://schemas.openxmlformats.org/drawingml/2006/table">
            <a:tbl>
              <a:tblPr/>
              <a:tblGrid>
                <a:gridCol w="3261360"/>
                <a:gridCol w="3261360"/>
                <a:gridCol w="3261360"/>
              </a:tblGrid>
              <a:tr h="474980">
                <a:tc>
                  <a:txBody>
                    <a:bodyPr/>
                    <a:p>
                      <a:pPr algn="l">
                        <a:lnSpc>
                          <a:spcPts val="1250"/>
                        </a:lnSpc>
                      </a:pPr>
                      <a:r>
                        <a:rPr lang="en-US" altLang="zh-CN" sz="1100" b="0">
                          <a:latin typeface="Times New Roman" panose="02020603050405020304" charset="0"/>
                          <a:ea typeface="quote-cjk-patch"/>
                          <a:cs typeface="Times New Roman" panose="02020603050405020304" charset="0"/>
                        </a:rPr>
                        <a:t>Component</a:t>
                      </a:r>
                      <a:endParaRPr lang="en-US" altLang="zh-CN" sz="1100" b="0">
                        <a:latin typeface="Times New Roman" panose="02020603050405020304" charset="0"/>
                        <a:ea typeface="quote-cjk-patch"/>
                        <a:cs typeface="Times New Roman" panose="02020603050405020304" charset="0"/>
                      </a:endParaRPr>
                    </a:p>
                  </a:txBody>
                  <a:tcPr marL="0" marR="101917" marT="63817" marB="63817" anchor="ctr" anchorCtr="0">
                    <a:lnL>
                      <a:noFill/>
                    </a:lnL>
                    <a:lnR>
                      <a:noFill/>
                    </a:lnR>
                    <a:lnT w="9525" cap="flat" cmpd="sng">
                      <a:solidFill>
                        <a:srgbClr val="000000"/>
                      </a:solidFill>
                      <a:prstDash val="solid"/>
                      <a:headEnd type="none" w="med" len="med"/>
                      <a:tailEnd type="none" w="med" len="med"/>
                    </a:lnT>
                    <a:lnB>
                      <a:noFill/>
                    </a:lnB>
                    <a:noFill/>
                  </a:tcPr>
                </a:tc>
                <a:tc>
                  <a:txBody>
                    <a:bodyPr/>
                    <a:p>
                      <a:pPr algn="l">
                        <a:lnSpc>
                          <a:spcPts val="1250"/>
                        </a:lnSpc>
                      </a:pPr>
                      <a:r>
                        <a:rPr lang="en-US" altLang="zh-CN" sz="1100" b="0">
                          <a:latin typeface="Times New Roman" panose="02020603050405020304" charset="0"/>
                          <a:ea typeface="quote-cjk-patch"/>
                          <a:cs typeface="Times New Roman" panose="02020603050405020304" charset="0"/>
                        </a:rPr>
                        <a:t>Technology Used</a:t>
                      </a:r>
                      <a:endParaRPr lang="en-US" altLang="zh-CN" sz="1100" b="0">
                        <a:latin typeface="Times New Roman" panose="02020603050405020304" charset="0"/>
                        <a:ea typeface="quote-cjk-patch"/>
                        <a:cs typeface="Times New Roman" panose="02020603050405020304" charset="0"/>
                      </a:endParaRPr>
                    </a:p>
                  </a:txBody>
                  <a:tcPr marL="101917" marR="101917" marT="63817" marB="63817" anchor="ctr" anchorCtr="0">
                    <a:lnL>
                      <a:noFill/>
                    </a:lnL>
                    <a:lnR>
                      <a:noFill/>
                    </a:lnR>
                    <a:lnT w="9525" cap="flat" cmpd="sng">
                      <a:solidFill>
                        <a:srgbClr val="000000"/>
                      </a:solidFill>
                      <a:prstDash val="solid"/>
                      <a:headEnd type="none" w="med" len="med"/>
                      <a:tailEnd type="none" w="med" len="med"/>
                    </a:lnT>
                    <a:lnB>
                      <a:noFill/>
                    </a:lnB>
                    <a:noFill/>
                  </a:tcPr>
                </a:tc>
                <a:tc>
                  <a:txBody>
                    <a:bodyPr/>
                    <a:p>
                      <a:pPr algn="l">
                        <a:lnSpc>
                          <a:spcPts val="1250"/>
                        </a:lnSpc>
                      </a:pPr>
                      <a:r>
                        <a:rPr lang="en-US" altLang="zh-CN" sz="1100" b="0">
                          <a:latin typeface="Times New Roman" panose="02020603050405020304" charset="0"/>
                          <a:ea typeface="quote-cjk-patch"/>
                          <a:cs typeface="Times New Roman" panose="02020603050405020304" charset="0"/>
                        </a:rPr>
                        <a:t>Purpose</a:t>
                      </a:r>
                      <a:endParaRPr lang="en-US" altLang="zh-CN" sz="1100" b="0">
                        <a:latin typeface="Times New Roman" panose="02020603050405020304" charset="0"/>
                        <a:ea typeface="quote-cjk-patch"/>
                        <a:cs typeface="Times New Roman" panose="02020603050405020304" charset="0"/>
                      </a:endParaRPr>
                    </a:p>
                  </a:txBody>
                  <a:tcPr marL="101917" marR="101917" marT="63817" marB="63817" anchor="ctr" anchorCtr="0">
                    <a:lnL>
                      <a:noFill/>
                    </a:lnL>
                    <a:lnR>
                      <a:noFill/>
                    </a:lnR>
                    <a:lnT w="9525" cap="flat" cmpd="sng">
                      <a:solidFill>
                        <a:srgbClr val="000000"/>
                      </a:solidFill>
                      <a:prstDash val="solid"/>
                      <a:headEnd type="none" w="med" len="med"/>
                      <a:tailEnd type="none" w="med" len="med"/>
                    </a:lnT>
                    <a:lnB>
                      <a:noFill/>
                    </a:lnB>
                    <a:noFill/>
                  </a:tcPr>
                </a:tc>
              </a:tr>
              <a:tr h="741680">
                <a:tc>
                  <a:txBody>
                    <a:bodyPr/>
                    <a:p>
                      <a:pPr>
                        <a:lnSpc>
                          <a:spcPts val="1250"/>
                        </a:lnSpc>
                      </a:pPr>
                      <a:r>
                        <a:rPr lang="en-US" altLang="zh-CN" sz="1100" b="0">
                          <a:latin typeface="Times New Roman" panose="02020603050405020304" charset="0"/>
                          <a:ea typeface="quote-cjk-patch"/>
                          <a:cs typeface="Times New Roman" panose="02020603050405020304" charset="0"/>
                        </a:rPr>
                        <a:t>Orchestration</a:t>
                      </a:r>
                      <a:endParaRPr lang="en-US" altLang="zh-CN" sz="1100" b="0">
                        <a:latin typeface="Times New Roman" panose="02020603050405020304" charset="0"/>
                        <a:ea typeface="quote-cjk-patch"/>
                        <a:cs typeface="Times New Roman" panose="02020603050405020304" charset="0"/>
                      </a:endParaRPr>
                    </a:p>
                  </a:txBody>
                  <a:tcPr marL="0" marR="101917" marT="63817" marB="63817" anchor="ctr" anchorCtr="0">
                    <a:lnL>
                      <a:noFill/>
                    </a:lnL>
                    <a:lnR>
                      <a:noFill/>
                    </a:lnR>
                    <a:lnT>
                      <a:noFill/>
                    </a:lnT>
                    <a:lnB>
                      <a:noFill/>
                    </a:lnB>
                    <a:noFill/>
                  </a:tcPr>
                </a:tc>
                <a:tc>
                  <a:txBody>
                    <a:bodyPr/>
                    <a:p>
                      <a:pPr>
                        <a:lnSpc>
                          <a:spcPts val="1250"/>
                        </a:lnSpc>
                      </a:pPr>
                      <a:r>
                        <a:rPr lang="en-US" altLang="zh-CN" sz="1100" b="0">
                          <a:latin typeface="Times New Roman" panose="02020603050405020304" charset="0"/>
                          <a:ea typeface="quote-cjk-patch"/>
                          <a:cs typeface="Times New Roman" panose="02020603050405020304" charset="0"/>
                        </a:rPr>
                        <a:t>LangFlow</a:t>
                      </a:r>
                      <a:endParaRPr lang="en-US" altLang="zh-CN" sz="1100" b="0">
                        <a:latin typeface="Times New Roman" panose="02020603050405020304" charset="0"/>
                        <a:ea typeface="quote-cjk-patch"/>
                        <a:cs typeface="Times New Roman" panose="02020603050405020304" charset="0"/>
                      </a:endParaRPr>
                    </a:p>
                  </a:txBody>
                  <a:tcPr marL="101917" marR="101917" marT="63817" marB="63817" anchor="ctr" anchorCtr="0">
                    <a:lnL>
                      <a:noFill/>
                    </a:lnL>
                    <a:lnR>
                      <a:noFill/>
                    </a:lnR>
                    <a:lnT>
                      <a:noFill/>
                    </a:lnT>
                    <a:lnB>
                      <a:noFill/>
                    </a:lnB>
                    <a:noFill/>
                  </a:tcPr>
                </a:tc>
                <a:tc>
                  <a:txBody>
                    <a:bodyPr/>
                    <a:p>
                      <a:pPr>
                        <a:lnSpc>
                          <a:spcPts val="1250"/>
                        </a:lnSpc>
                      </a:pPr>
                      <a:r>
                        <a:rPr lang="en-US" altLang="zh-CN" sz="1100" b="0">
                          <a:latin typeface="Times New Roman" panose="02020603050405020304" charset="0"/>
                          <a:ea typeface="quote-cjk-patch"/>
                          <a:cs typeface="Times New Roman" panose="02020603050405020304" charset="0"/>
                        </a:rPr>
                        <a:t>Visual workflow management for multi-agent collaboration.</a:t>
                      </a:r>
                      <a:endParaRPr lang="en-US" altLang="zh-CN" sz="1100" b="0">
                        <a:latin typeface="Times New Roman" panose="02020603050405020304" charset="0"/>
                        <a:ea typeface="quote-cjk-patch"/>
                        <a:cs typeface="Times New Roman" panose="02020603050405020304" charset="0"/>
                      </a:endParaRPr>
                    </a:p>
                  </a:txBody>
                  <a:tcPr marL="101917" marR="0" marT="63817" marB="63817" anchor="ctr" anchorCtr="0">
                    <a:lnL>
                      <a:noFill/>
                    </a:lnL>
                    <a:lnR>
                      <a:noFill/>
                    </a:lnR>
                    <a:lnT>
                      <a:noFill/>
                    </a:lnT>
                    <a:lnB>
                      <a:noFill/>
                    </a:lnB>
                    <a:noFill/>
                  </a:tcPr>
                </a:tc>
              </a:tr>
              <a:tr h="740410">
                <a:tc>
                  <a:txBody>
                    <a:bodyPr/>
                    <a:p>
                      <a:pPr>
                        <a:lnSpc>
                          <a:spcPts val="1250"/>
                        </a:lnSpc>
                      </a:pPr>
                      <a:r>
                        <a:rPr lang="en-US" altLang="zh-CN" sz="1100" b="0">
                          <a:latin typeface="Times New Roman" panose="02020603050405020304" charset="0"/>
                          <a:ea typeface="quote-cjk-patch"/>
                          <a:cs typeface="Times New Roman" panose="02020603050405020304" charset="0"/>
                        </a:rPr>
                        <a:t>LLM &amp; Inference</a:t>
                      </a:r>
                      <a:endParaRPr lang="en-US" altLang="zh-CN" sz="1100" b="0">
                        <a:latin typeface="Times New Roman" panose="02020603050405020304" charset="0"/>
                        <a:ea typeface="quote-cjk-patch"/>
                        <a:cs typeface="Times New Roman" panose="02020603050405020304" charset="0"/>
                      </a:endParaRPr>
                    </a:p>
                  </a:txBody>
                  <a:tcPr marL="0" marR="101917" marT="63817" marB="63817" anchor="ctr" anchorCtr="0">
                    <a:lnL>
                      <a:noFill/>
                    </a:lnL>
                    <a:lnR>
                      <a:noFill/>
                    </a:lnR>
                    <a:lnT>
                      <a:noFill/>
                    </a:lnT>
                    <a:lnB>
                      <a:noFill/>
                    </a:lnB>
                    <a:noFill/>
                  </a:tcPr>
                </a:tc>
                <a:tc>
                  <a:txBody>
                    <a:bodyPr/>
                    <a:p>
                      <a:pPr>
                        <a:lnSpc>
                          <a:spcPts val="1250"/>
                        </a:lnSpc>
                      </a:pPr>
                      <a:r>
                        <a:rPr lang="en-US" altLang="zh-CN" sz="1100" b="0">
                          <a:latin typeface="Times New Roman" panose="02020603050405020304" charset="0"/>
                          <a:ea typeface="quote-cjk-patch"/>
                          <a:cs typeface="Times New Roman" panose="02020603050405020304" charset="0"/>
                        </a:rPr>
                        <a:t>IBM </a:t>
                      </a:r>
                      <a:r>
                        <a:rPr lang="en-US" altLang="zh-CN" sz="1100" b="0">
                          <a:solidFill>
                            <a:srgbClr val="679EFE"/>
                          </a:solidFill>
                          <a:latin typeface="Times New Roman" panose="02020603050405020304" charset="0"/>
                          <a:ea typeface="quote-cjk-patch"/>
                          <a:cs typeface="Times New Roman" panose="02020603050405020304" charset="0"/>
                          <a:hlinkClick r:id="rId1"/>
                        </a:rPr>
                        <a:t>watsonx.ai</a:t>
                      </a:r>
                      <a:endParaRPr lang="en-US" altLang="zh-CN" sz="1100" b="0">
                        <a:solidFill>
                          <a:srgbClr val="679EFE"/>
                        </a:solidFill>
                        <a:latin typeface="Times New Roman" panose="02020603050405020304" charset="0"/>
                        <a:ea typeface="quote-cjk-patch"/>
                        <a:cs typeface="Times New Roman" panose="02020603050405020304" charset="0"/>
                        <a:hlinkClick r:id="rId1"/>
                      </a:endParaRPr>
                    </a:p>
                  </a:txBody>
                  <a:tcPr marL="101917" marR="101917" marT="63817" marB="63817" anchor="ctr" anchorCtr="0">
                    <a:lnL>
                      <a:noFill/>
                    </a:lnL>
                    <a:lnR>
                      <a:noFill/>
                    </a:lnR>
                    <a:lnT>
                      <a:noFill/>
                    </a:lnT>
                    <a:lnB>
                      <a:noFill/>
                    </a:lnB>
                    <a:noFill/>
                  </a:tcPr>
                </a:tc>
                <a:tc>
                  <a:txBody>
                    <a:bodyPr/>
                    <a:p>
                      <a:pPr>
                        <a:lnSpc>
                          <a:spcPts val="1250"/>
                        </a:lnSpc>
                      </a:pPr>
                      <a:r>
                        <a:rPr lang="en-US" altLang="zh-CN" sz="1100" b="0">
                          <a:latin typeface="Times New Roman" panose="02020603050405020304" charset="0"/>
                          <a:ea typeface="quote-cjk-patch"/>
                          <a:cs typeface="Times New Roman" panose="02020603050405020304" charset="0"/>
                        </a:rPr>
                        <a:t>Hosting and scaling the Granite models securely.</a:t>
                      </a:r>
                      <a:endParaRPr lang="en-US" altLang="zh-CN" sz="1100" b="0">
                        <a:latin typeface="Times New Roman" panose="02020603050405020304" charset="0"/>
                        <a:ea typeface="quote-cjk-patch"/>
                        <a:cs typeface="Times New Roman" panose="02020603050405020304" charset="0"/>
                      </a:endParaRPr>
                    </a:p>
                  </a:txBody>
                  <a:tcPr marL="101917" marR="0" marT="63817" marB="63817" anchor="ctr" anchorCtr="0">
                    <a:lnL>
                      <a:noFill/>
                    </a:lnL>
                    <a:lnR>
                      <a:noFill/>
                    </a:lnR>
                    <a:lnT>
                      <a:noFill/>
                    </a:lnT>
                    <a:lnB>
                      <a:noFill/>
                    </a:lnB>
                    <a:noFill/>
                  </a:tcPr>
                </a:tc>
              </a:tr>
              <a:tr h="740410">
                <a:tc>
                  <a:txBody>
                    <a:bodyPr/>
                    <a:p>
                      <a:pPr>
                        <a:lnSpc>
                          <a:spcPts val="1250"/>
                        </a:lnSpc>
                      </a:pPr>
                      <a:r>
                        <a:rPr lang="en-US" altLang="zh-CN" sz="1100" b="0">
                          <a:latin typeface="Times New Roman" panose="02020603050405020304" charset="0"/>
                          <a:ea typeface="quote-cjk-patch"/>
                          <a:cs typeface="Times New Roman" panose="02020603050405020304" charset="0"/>
                        </a:rPr>
                        <a:t>Core Reasoning</a:t>
                      </a:r>
                      <a:endParaRPr lang="en-US" altLang="zh-CN" sz="1100" b="0">
                        <a:latin typeface="Times New Roman" panose="02020603050405020304" charset="0"/>
                        <a:ea typeface="quote-cjk-patch"/>
                        <a:cs typeface="Times New Roman" panose="02020603050405020304" charset="0"/>
                      </a:endParaRPr>
                    </a:p>
                  </a:txBody>
                  <a:tcPr marL="0" marR="101917" marT="63817" marB="63817" anchor="ctr" anchorCtr="0">
                    <a:lnL>
                      <a:noFill/>
                    </a:lnL>
                    <a:lnR>
                      <a:noFill/>
                    </a:lnR>
                    <a:lnT>
                      <a:noFill/>
                    </a:lnT>
                    <a:lnB>
                      <a:noFill/>
                    </a:lnB>
                    <a:noFill/>
                  </a:tcPr>
                </a:tc>
                <a:tc>
                  <a:txBody>
                    <a:bodyPr/>
                    <a:p>
                      <a:pPr>
                        <a:lnSpc>
                          <a:spcPts val="1250"/>
                        </a:lnSpc>
                      </a:pPr>
                      <a:r>
                        <a:rPr lang="en-US" altLang="zh-CN" sz="1100" b="0">
                          <a:latin typeface="Times New Roman" panose="02020603050405020304" charset="0"/>
                          <a:ea typeface="quote-cjk-patch"/>
                          <a:cs typeface="Times New Roman" panose="02020603050405020304" charset="0"/>
                        </a:rPr>
                        <a:t>IBM Granite </a:t>
                      </a:r>
                      <a:r>
                        <a:rPr lang="en-US" altLang="zh-CN" sz="1100" b="0">
                          <a:latin typeface="Times New Roman" panose="02020603050405020304" charset="0"/>
                          <a:ea typeface="quote-cjk-patch"/>
                          <a:cs typeface="Times New Roman" panose="02020603050405020304" charset="0"/>
                        </a:rPr>
                        <a:t>(13B/20B)</a:t>
                      </a:r>
                      <a:endParaRPr lang="en-US" altLang="zh-CN" sz="1100" b="0">
                        <a:latin typeface="Times New Roman" panose="02020603050405020304" charset="0"/>
                        <a:ea typeface="quote-cjk-patch"/>
                        <a:cs typeface="Times New Roman" panose="02020603050405020304" charset="0"/>
                      </a:endParaRPr>
                    </a:p>
                  </a:txBody>
                  <a:tcPr marL="101917" marR="101917" marT="63817" marB="63817" anchor="ctr" anchorCtr="0">
                    <a:lnL>
                      <a:noFill/>
                    </a:lnL>
                    <a:lnR>
                      <a:noFill/>
                    </a:lnR>
                    <a:lnT>
                      <a:noFill/>
                    </a:lnT>
                    <a:lnB>
                      <a:noFill/>
                    </a:lnB>
                    <a:noFill/>
                  </a:tcPr>
                </a:tc>
                <a:tc>
                  <a:txBody>
                    <a:bodyPr/>
                    <a:p>
                      <a:pPr>
                        <a:lnSpc>
                          <a:spcPts val="1250"/>
                        </a:lnSpc>
                      </a:pPr>
                      <a:r>
                        <a:rPr lang="en-US" altLang="zh-CN" sz="1100" b="0">
                          <a:latin typeface="Times New Roman" panose="02020603050405020304" charset="0"/>
                          <a:ea typeface="quote-cjk-patch"/>
                          <a:cs typeface="Times New Roman" panose="02020603050405020304" charset="0"/>
                        </a:rPr>
                        <a:t>Generating explanations, fairness reports, and counterfactuals.</a:t>
                      </a:r>
                      <a:endParaRPr lang="en-US" altLang="zh-CN" sz="1100" b="0">
                        <a:latin typeface="Times New Roman" panose="02020603050405020304" charset="0"/>
                        <a:ea typeface="quote-cjk-patch"/>
                        <a:cs typeface="Times New Roman" panose="02020603050405020304" charset="0"/>
                      </a:endParaRPr>
                    </a:p>
                  </a:txBody>
                  <a:tcPr marL="101917" marR="0" marT="63817" marB="63817" anchor="ctr" anchorCtr="0">
                    <a:lnL>
                      <a:noFill/>
                    </a:lnL>
                    <a:lnR>
                      <a:noFill/>
                    </a:lnR>
                    <a:lnT>
                      <a:noFill/>
                    </a:lnT>
                    <a:lnB>
                      <a:noFill/>
                    </a:lnB>
                    <a:noFill/>
                  </a:tcPr>
                </a:tc>
              </a:tr>
              <a:tr h="740410">
                <a:tc>
                  <a:txBody>
                    <a:bodyPr/>
                    <a:p>
                      <a:pPr>
                        <a:lnSpc>
                          <a:spcPts val="1250"/>
                        </a:lnSpc>
                      </a:pPr>
                      <a:r>
                        <a:rPr lang="en-US" altLang="zh-CN" sz="1100" b="0">
                          <a:latin typeface="Times New Roman" panose="02020603050405020304" charset="0"/>
                          <a:ea typeface="quote-cjk-patch"/>
                          <a:cs typeface="Times New Roman" panose="02020603050405020304" charset="0"/>
                        </a:rPr>
                        <a:t>Prediction Engine</a:t>
                      </a:r>
                      <a:endParaRPr lang="en-US" altLang="zh-CN" sz="1100" b="0">
                        <a:latin typeface="Times New Roman" panose="02020603050405020304" charset="0"/>
                        <a:ea typeface="quote-cjk-patch"/>
                        <a:cs typeface="Times New Roman" panose="02020603050405020304" charset="0"/>
                      </a:endParaRPr>
                    </a:p>
                  </a:txBody>
                  <a:tcPr marL="0" marR="101917" marT="63817" marB="63817" anchor="ctr" anchorCtr="0">
                    <a:lnL>
                      <a:noFill/>
                    </a:lnL>
                    <a:lnR>
                      <a:noFill/>
                    </a:lnR>
                    <a:lnT>
                      <a:noFill/>
                    </a:lnT>
                    <a:lnB>
                      <a:noFill/>
                    </a:lnB>
                    <a:noFill/>
                  </a:tcPr>
                </a:tc>
                <a:tc>
                  <a:txBody>
                    <a:bodyPr/>
                    <a:p>
                      <a:pPr>
                        <a:lnSpc>
                          <a:spcPts val="1250"/>
                        </a:lnSpc>
                      </a:pPr>
                      <a:r>
                        <a:rPr lang="en-US" altLang="zh-CN" sz="1100" b="0">
                          <a:latin typeface="Times New Roman" panose="02020603050405020304" charset="0"/>
                          <a:ea typeface="quote-cjk-patch"/>
                          <a:cs typeface="Times New Roman" panose="02020603050405020304" charset="0"/>
                        </a:rPr>
                        <a:t>XGBoost / Random Forest (Local)</a:t>
                      </a:r>
                      <a:endParaRPr lang="en-US" altLang="zh-CN" sz="1100" b="0">
                        <a:latin typeface="Times New Roman" panose="02020603050405020304" charset="0"/>
                        <a:ea typeface="quote-cjk-patch"/>
                        <a:cs typeface="Times New Roman" panose="02020603050405020304" charset="0"/>
                      </a:endParaRPr>
                    </a:p>
                  </a:txBody>
                  <a:tcPr marL="101917" marR="101917" marT="63817" marB="63817" anchor="ctr" anchorCtr="0">
                    <a:lnL>
                      <a:noFill/>
                    </a:lnL>
                    <a:lnR>
                      <a:noFill/>
                    </a:lnR>
                    <a:lnT>
                      <a:noFill/>
                    </a:lnT>
                    <a:lnB>
                      <a:noFill/>
                    </a:lnB>
                    <a:noFill/>
                  </a:tcPr>
                </a:tc>
                <a:tc>
                  <a:txBody>
                    <a:bodyPr/>
                    <a:p>
                      <a:pPr>
                        <a:lnSpc>
                          <a:spcPts val="1250"/>
                        </a:lnSpc>
                      </a:pPr>
                      <a:r>
                        <a:rPr lang="en-US" altLang="zh-CN" sz="1100" b="0">
                          <a:latin typeface="Times New Roman" panose="02020603050405020304" charset="0"/>
                          <a:ea typeface="quote-cjk-patch"/>
                          <a:cs typeface="Times New Roman" panose="02020603050405020304" charset="0"/>
                        </a:rPr>
                        <a:t>High-accuracy base prediction for loan approval odds.</a:t>
                      </a:r>
                      <a:endParaRPr lang="en-US" altLang="zh-CN" sz="1100" b="0">
                        <a:latin typeface="Times New Roman" panose="02020603050405020304" charset="0"/>
                        <a:ea typeface="quote-cjk-patch"/>
                        <a:cs typeface="Times New Roman" panose="02020603050405020304" charset="0"/>
                      </a:endParaRPr>
                    </a:p>
                  </a:txBody>
                  <a:tcPr marL="101917" marR="0" marT="63817" marB="63817" anchor="ctr" anchorCtr="0">
                    <a:lnL>
                      <a:noFill/>
                    </a:lnL>
                    <a:lnR>
                      <a:noFill/>
                    </a:lnR>
                    <a:lnT>
                      <a:noFill/>
                    </a:lnT>
                    <a:lnB>
                      <a:noFill/>
                    </a:lnB>
                    <a:noFill/>
                  </a:tcPr>
                </a:tc>
              </a:tr>
              <a:tr h="740410">
                <a:tc>
                  <a:txBody>
                    <a:bodyPr/>
                    <a:p>
                      <a:pPr>
                        <a:lnSpc>
                          <a:spcPts val="1250"/>
                        </a:lnSpc>
                      </a:pPr>
                      <a:r>
                        <a:rPr lang="en-US" altLang="zh-CN" sz="1100" b="0">
                          <a:latin typeface="Times New Roman" panose="02020603050405020304" charset="0"/>
                          <a:ea typeface="quote-cjk-patch"/>
                          <a:cs typeface="Times New Roman" panose="02020603050405020304" charset="0"/>
                        </a:rPr>
                        <a:t>Interface</a:t>
                      </a:r>
                      <a:endParaRPr lang="en-US" altLang="zh-CN" sz="1100" b="0">
                        <a:latin typeface="Times New Roman" panose="02020603050405020304" charset="0"/>
                        <a:ea typeface="quote-cjk-patch"/>
                        <a:cs typeface="Times New Roman" panose="02020603050405020304" charset="0"/>
                      </a:endParaRPr>
                    </a:p>
                  </a:txBody>
                  <a:tcPr marL="0" marR="101917" marT="63817" marB="63817" anchor="ctr" anchorCtr="0">
                    <a:lnL>
                      <a:noFill/>
                    </a:lnL>
                    <a:lnR>
                      <a:noFill/>
                    </a:lnR>
                    <a:lnT>
                      <a:noFill/>
                    </a:lnT>
                    <a:lnB>
                      <a:noFill/>
                    </a:lnB>
                    <a:noFill/>
                  </a:tcPr>
                </a:tc>
                <a:tc>
                  <a:txBody>
                    <a:bodyPr/>
                    <a:p>
                      <a:pPr>
                        <a:lnSpc>
                          <a:spcPts val="1250"/>
                        </a:lnSpc>
                      </a:pPr>
                      <a:r>
                        <a:rPr lang="en-US" altLang="zh-CN" sz="1100" b="0">
                          <a:latin typeface="Times New Roman" panose="02020603050405020304" charset="0"/>
                          <a:ea typeface="quote-cjk-patch"/>
                          <a:cs typeface="Times New Roman" panose="02020603050405020304" charset="0"/>
                        </a:rPr>
                        <a:t>Streamlit (Python)</a:t>
                      </a:r>
                      <a:endParaRPr lang="en-US" altLang="zh-CN" sz="1100" b="0">
                        <a:latin typeface="Times New Roman" panose="02020603050405020304" charset="0"/>
                        <a:ea typeface="quote-cjk-patch"/>
                        <a:cs typeface="Times New Roman" panose="02020603050405020304" charset="0"/>
                      </a:endParaRPr>
                    </a:p>
                  </a:txBody>
                  <a:tcPr marL="101917" marR="101917" marT="63817" marB="63817" anchor="ctr" anchorCtr="0">
                    <a:lnL>
                      <a:noFill/>
                    </a:lnL>
                    <a:lnR>
                      <a:noFill/>
                    </a:lnR>
                    <a:lnT>
                      <a:noFill/>
                    </a:lnT>
                    <a:lnB>
                      <a:noFill/>
                    </a:lnB>
                    <a:noFill/>
                  </a:tcPr>
                </a:tc>
                <a:tc>
                  <a:txBody>
                    <a:bodyPr/>
                    <a:p>
                      <a:pPr>
                        <a:lnSpc>
                          <a:spcPts val="1250"/>
                        </a:lnSpc>
                      </a:pPr>
                      <a:r>
                        <a:rPr lang="en-US" altLang="zh-CN" sz="1100" b="0">
                          <a:latin typeface="Times New Roman" panose="02020603050405020304" charset="0"/>
                          <a:ea typeface="quote-cjk-patch"/>
                          <a:cs typeface="Times New Roman" panose="02020603050405020304" charset="0"/>
                        </a:rPr>
                        <a:t>Front-end dashboard for loan officers and applicants.</a:t>
                      </a:r>
                      <a:endParaRPr lang="en-US" altLang="zh-CN" sz="1100" b="0">
                        <a:latin typeface="Times New Roman" panose="02020603050405020304" charset="0"/>
                        <a:ea typeface="quote-cjk-patch"/>
                        <a:cs typeface="Times New Roman" panose="02020603050405020304" charset="0"/>
                      </a:endParaRPr>
                    </a:p>
                  </a:txBody>
                  <a:tcPr marL="101917" marR="0" marT="63817" marB="63817" anchor="ctr" anchorCtr="0">
                    <a:lnL>
                      <a:noFill/>
                    </a:lnL>
                    <a:lnR>
                      <a:noFill/>
                    </a:lnR>
                    <a:lnT>
                      <a:noFill/>
                    </a:lnT>
                    <a:lnB>
                      <a:noFill/>
                    </a:lnB>
                    <a:no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2" name="TextBox 1"/>
          <p:cNvSpPr txBox="1"/>
          <p:nvPr/>
        </p:nvSpPr>
        <p:spPr>
          <a:xfrm>
            <a:off x="576072" y="1234440"/>
            <a:ext cx="10607040" cy="4184650"/>
          </a:xfrm>
          <a:prstGeom prst="rect">
            <a:avLst/>
          </a:prstGeom>
          <a:noFill/>
        </p:spPr>
        <p:txBody>
          <a:bodyPr wrap="square" rtlCol="0">
            <a:spAutoFit/>
          </a:bodyPr>
          <a:lstStyle/>
          <a:p>
            <a:pPr fontAlgn="base"/>
            <a:endParaRPr lang="en-US" b="1" dirty="0"/>
          </a:p>
          <a:p>
            <a:r>
              <a:rPr lang="en-US" altLang="en-US" b="1" dirty="0"/>
              <a:t>The proposed solution, XLoan-AI, is an AI-powered, multi-agent decision-support system designed to address the critical limitations of traditional loan approval processes by ensuring transparency, fairness, and accountability. Unlike conventional black-box models that provide no insight into their decisions, XLoan-AI integrates advanced machine learning algorithms, specifically XGBoost and Random Forest classifiers, to predict loan approval probabilities with high accuracy. What makes this solution unique is its explainable AI layer, which leverages SHAP (SHapley Additive exPlanations) values to translate complex model signals into human-readable statements, allowing applicants and loan officers to understand exactly why a loan was approved or rejected. Additionally, the system features a counterfactual recommendation engine that generates specific, actionable suggestions for rejected applicants—such as "increase your credit score by 30-50 points" or "reduce existing loan liabilities"—thereby providing a clear roadmap for future approval. A fairness monitoring module continuously checks for potential bias across sensitive attributes like gender and region using statistical parity difference and disparate impact ratio metrics, ensuring compliance with fair lending regulations such as RBI guidelines. The entire system is wrapped in a user-friendly Streamlit interface that provides real-time predictions, confidence scores, and detailed explanations, while maintaining a decision-support architecture where final approval authority remains with human lenders. To build this intelligent system, the project utilizes LangFlow for orchestrating multi-agent workflows, IBM watsonx.ai for scalable model deployment and AI governance, and IBM Granite models for reasoning, summarization, and generating personalized, context-aware explanations. This combination of predictive power, explainability, fairness monitoring, and human oversight makes XLoan-AI a responsible, trustworthy, and regulatory-compliant solution for modern lending environments.</a:t>
            </a:r>
            <a:endParaRPr lang="en-US" altLang="en-US" b="1" dirty="0"/>
          </a:p>
        </p:txBody>
      </p:sp>
      <p:sp>
        <p:nvSpPr>
          <p:cNvPr id="3" name="TextBox 2"/>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5" name="Google Shape;135;p5"/>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panose="02020603050405020304"/>
              <a:buNone/>
            </a:pPr>
            <a:r>
              <a:rPr lang="en-US" sz="2400" b="1" dirty="0" err="1">
                <a:sym typeface="Times New Roman" panose="02020603050405020304"/>
              </a:rPr>
              <a:t>Langflow</a:t>
            </a:r>
            <a:r>
              <a:rPr lang="en-US" sz="3500" b="1" i="0" u="none" strike="noStrike" cap="none" dirty="0">
                <a:solidFill>
                  <a:srgbClr val="051D3A"/>
                </a:solidFill>
                <a:latin typeface="Times New Roman" panose="02020603050405020304"/>
                <a:ea typeface="Times New Roman" panose="02020603050405020304"/>
                <a:cs typeface="Times New Roman" panose="02020603050405020304"/>
                <a:sym typeface="Times New Roman" panose="02020603050405020304"/>
              </a:rPr>
              <a:t> </a:t>
            </a:r>
            <a:r>
              <a:rPr lang="en-US" sz="2400" b="1" dirty="0">
                <a:sym typeface="Times New Roman" panose="02020603050405020304"/>
              </a:rPr>
              <a:t>component Used -</a:t>
            </a:r>
            <a:endParaRPr sz="2400" b="1" dirty="0">
              <a:sym typeface="Times New Roman" panose="02020603050405020304"/>
            </a:endParaRPr>
          </a:p>
        </p:txBody>
      </p:sp>
      <p:sp>
        <p:nvSpPr>
          <p:cNvPr id="148" name="Google Shape;148;p5"/>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9" name="Google Shape;149;p5"/>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0" name="Google Shape;150;p5"/>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1" name="Google Shape;151;p5"/>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2" name="Google Shape;152;p5"/>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3" name="Google Shape;153;p5"/>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9000"/>
              </a:lnSpc>
              <a:spcBef>
                <a:spcPts val="0"/>
              </a:spcBef>
              <a:spcAft>
                <a:spcPts val="0"/>
              </a:spcAft>
              <a:buClr>
                <a:schemeClr val="dk1"/>
              </a:buClr>
              <a:buSzPts val="1600"/>
              <a:buFont typeface="Calibri" panose="020F0502020204030204"/>
              <a:buNone/>
            </a:pPr>
            <a:endParaRPr sz="16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TextBox 1"/>
          <p:cNvSpPr txBox="1"/>
          <p:nvPr/>
        </p:nvSpPr>
        <p:spPr>
          <a:xfrm>
            <a:off x="474822" y="863187"/>
            <a:ext cx="8823960" cy="5477510"/>
          </a:xfrm>
          <a:prstGeom prst="rect">
            <a:avLst/>
          </a:prstGeom>
          <a:noFill/>
        </p:spPr>
        <p:txBody>
          <a:bodyPr wrap="square" rtlCol="0">
            <a:spAutoFit/>
          </a:bodyPr>
          <a:lstStyle/>
          <a:p>
            <a:endParaRPr lang="en-US" dirty="0"/>
          </a:p>
          <a:p>
            <a:r>
              <a:rPr lang="en-US" altLang="en-US" dirty="0"/>
              <a:t>LangFlow Component Orchestration</a:t>
            </a:r>
            <a:endParaRPr lang="en-US" altLang="en-US" dirty="0"/>
          </a:p>
          <a:p>
            <a:endParaRPr lang="en-US" altLang="en-US" dirty="0"/>
          </a:p>
          <a:p>
            <a:r>
              <a:rPr lang="en-US" altLang="en-US" dirty="0"/>
              <a:t>Chat Input (Streamlit): User enters financial data (Income, Credit Score, Age, Region).</a:t>
            </a:r>
            <a:endParaRPr lang="en-US" altLang="en-US" dirty="0"/>
          </a:p>
          <a:p>
            <a:endParaRPr lang="en-US" altLang="en-US" dirty="0"/>
          </a:p>
          <a:p>
            <a:r>
              <a:rPr lang="en-US" altLang="en-US" dirty="0"/>
              <a:t>IBM watsonx AI Agent (Granite): Processes the input and formats it for the ML model.</a:t>
            </a:r>
            <a:endParaRPr lang="en-US" altLang="en-US" dirty="0"/>
          </a:p>
          <a:p>
            <a:endParaRPr lang="en-US" altLang="en-US" dirty="0"/>
          </a:p>
          <a:p>
            <a:r>
              <a:rPr lang="en-US" altLang="en-US" dirty="0"/>
              <a:t>Custom Python Component (XGBoost): Predicts base approval probability (e.g., 42%).</a:t>
            </a:r>
            <a:endParaRPr lang="en-US" altLang="en-US" dirty="0"/>
          </a:p>
          <a:p>
            <a:endParaRPr lang="en-US" altLang="en-US" dirty="0"/>
          </a:p>
          <a:p>
            <a:r>
              <a:rPr lang="en-US" altLang="en-US" dirty="0"/>
              <a:t>SHAP Explainer Agent: Calculates which features hurt the application most.</a:t>
            </a:r>
            <a:endParaRPr lang="en-US" altLang="en-US" dirty="0"/>
          </a:p>
          <a:p>
            <a:endParaRPr lang="en-US" altLang="en-US" dirty="0"/>
          </a:p>
          <a:p>
            <a:r>
              <a:rPr lang="en-US" altLang="en-US" dirty="0"/>
              <a:t>Counterfactual Agent: Generates specific recommendations ("Reduce existing loans to 0").</a:t>
            </a:r>
            <a:endParaRPr lang="en-US" altLang="en-US" dirty="0"/>
          </a:p>
          <a:p>
            <a:endParaRPr lang="en-US" altLang="en-US" dirty="0"/>
          </a:p>
          <a:p>
            <a:r>
              <a:rPr lang="en-US" altLang="en-US" dirty="0"/>
              <a:t>Fairness Checker Agent: Queries the vector DB for historical bias metrics.</a:t>
            </a:r>
            <a:endParaRPr lang="en-US" altLang="en-US" dirty="0"/>
          </a:p>
          <a:p>
            <a:endParaRPr lang="en-US" altLang="en-US" dirty="0"/>
          </a:p>
          <a:p>
            <a:r>
              <a:rPr lang="en-US" altLang="en-US" dirty="0"/>
              <a:t>Chat Output: Displays result (Rejected), Probability (42%), and 3 actionable steps.</a:t>
            </a:r>
            <a:endParaRPr lang="en-US" altLang="en-US" dirty="0"/>
          </a:p>
          <a:p>
            <a:endParaRPr lang="en-US" altLang="en-US" dirty="0"/>
          </a:p>
          <a:p>
            <a:r>
              <a:rPr lang="en-US" altLang="en-US" dirty="0"/>
              <a:t>(Diagram concept: Data flows from User -&gt; Granite Parser -&gt; ML Predictor -&gt; SHAP Logic -&gt; Granite Summarizer -&gt; User)</a:t>
            </a:r>
            <a:endParaRPr lang="en-US" altLang="en-US" dirty="0"/>
          </a:p>
          <a:p>
            <a:endParaRPr lang="en-US" dirty="0"/>
          </a:p>
          <a:p>
            <a:endParaRPr lang="en-US" dirty="0"/>
          </a:p>
          <a:p>
            <a:endParaRPr lang="en-US" dirty="0"/>
          </a:p>
          <a:p>
            <a:endParaRPr lang="en-US" dirty="0"/>
          </a:p>
          <a:p>
            <a:endParaRPr lang="en-US" dirty="0"/>
          </a:p>
          <a:p>
            <a:r>
              <a:rPr lang="en-US" dirty="0"/>
              <a:t> </a:t>
            </a: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464439" y="1066220"/>
            <a:ext cx="11469656" cy="5544892"/>
          </a:xfrm>
          <a:prstGeom prst="rect">
            <a:avLst/>
          </a:prstGeom>
        </p:spPr>
      </p:pic>
      <p:sp>
        <p:nvSpPr>
          <p:cNvPr id="2" name="Google Shape;135;p5"/>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panose="02020603050405020304"/>
              <a:buNone/>
            </a:pPr>
            <a:r>
              <a:rPr lang="en-US" sz="2400" b="1" dirty="0" err="1">
                <a:sym typeface="Times New Roman" panose="02020603050405020304"/>
              </a:rPr>
              <a:t>Langflow</a:t>
            </a:r>
            <a:r>
              <a:rPr lang="en-US" sz="3500" b="1" i="0" u="none" strike="noStrike" cap="none" dirty="0">
                <a:solidFill>
                  <a:srgbClr val="051D3A"/>
                </a:solidFill>
                <a:latin typeface="Times New Roman" panose="02020603050405020304"/>
                <a:ea typeface="Times New Roman" panose="02020603050405020304"/>
                <a:cs typeface="Times New Roman" panose="02020603050405020304"/>
                <a:sym typeface="Times New Roman" panose="02020603050405020304"/>
              </a:rPr>
              <a:t> </a:t>
            </a:r>
            <a:r>
              <a:rPr lang="en-US" sz="2400" b="1" dirty="0">
                <a:sym typeface="Times New Roman" panose="02020603050405020304"/>
              </a:rPr>
              <a:t>workflow -</a:t>
            </a:r>
            <a:endParaRPr sz="2400" b="1" dirty="0">
              <a:sym typeface="Times New Roman" panose="020206030504050203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178" name="Google Shape;178;p7"/>
          <p:cNvPicPr preferRelativeResize="0"/>
          <p:nvPr/>
        </p:nvPicPr>
        <p:blipFill rotWithShape="1">
          <a:blip r:embed="rId1"/>
          <a:srcRect/>
          <a:stretch>
            <a:fillRect/>
          </a:stretch>
        </p:blipFill>
        <p:spPr>
          <a:xfrm>
            <a:off x="699152" y="1071448"/>
            <a:ext cx="10429095" cy="5612816"/>
          </a:xfrm>
          <a:prstGeom prst="rect">
            <a:avLst/>
          </a:prstGeom>
          <a:noFill/>
          <a:ln>
            <a:noFill/>
          </a:ln>
        </p:spPr>
      </p:pic>
      <p:sp>
        <p:nvSpPr>
          <p:cNvPr id="2" name="Google Shape;135;p5"/>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panose="020F0502020204030204"/>
                <a:ea typeface="Calibri" panose="020F0502020204030204"/>
                <a:cs typeface="Calibri" panose="020F0502020204030204"/>
                <a:sym typeface="Calibri" panose="020F0502020204030204"/>
              </a:rPr>
              <a:t>Architecture blueprint</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1"/>
          <a:srcRect/>
          <a:stretch>
            <a:fillRect/>
          </a:stretch>
        </p:blipFill>
        <p:spPr>
          <a:xfrm>
            <a:off x="8371985" y="1167493"/>
            <a:ext cx="3015343" cy="4523014"/>
          </a:xfrm>
          <a:prstGeom prst="rect">
            <a:avLst/>
          </a:prstGeom>
          <a:noFill/>
          <a:ln>
            <a:noFill/>
          </a:ln>
        </p:spPr>
      </p:pic>
      <p:sp>
        <p:nvSpPr>
          <p:cNvPr id="2" name="TextBox 1"/>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p:cNvSpPr txBox="1"/>
          <p:nvPr/>
        </p:nvSpPr>
        <p:spPr>
          <a:xfrm>
            <a:off x="621792" y="1167493"/>
            <a:ext cx="7406640" cy="4615815"/>
          </a:xfrm>
          <a:prstGeom prst="rect">
            <a:avLst/>
          </a:prstGeom>
          <a:noFill/>
        </p:spPr>
        <p:txBody>
          <a:bodyPr wrap="square" rtlCol="0">
            <a:spAutoFit/>
          </a:bodyPr>
          <a:lstStyle/>
          <a:p>
            <a:r>
              <a:rPr lang="en-US" altLang="en-US" dirty="0"/>
              <a:t>Why Agentic AI? Moving from a Simple Predictor to a Smart Assistant</a:t>
            </a:r>
            <a:endParaRPr lang="en-US" altLang="en-US" dirty="0"/>
          </a:p>
          <a:p>
            <a:endParaRPr lang="en-US" altLang="en-US" dirty="0"/>
          </a:p>
          <a:p>
            <a:r>
              <a:rPr lang="en-US" altLang="en-US" dirty="0"/>
              <a:t>Instead of a static "Yes/No" machine, Agentic AI allows XLoan-AI to reason, explain, and advise autonomously.</a:t>
            </a:r>
            <a:endParaRPr lang="en-US" altLang="en-US" dirty="0"/>
          </a:p>
          <a:p>
            <a:endParaRPr lang="en-US" altLang="en-US" dirty="0"/>
          </a:p>
          <a:p>
            <a:r>
              <a:rPr lang="en-US" altLang="en-US" dirty="0"/>
              <a:t>Context Awareness: The Granite agent understands why a low credit score matters for this specific loan amount contextually.</a:t>
            </a:r>
            <a:endParaRPr lang="en-US" altLang="en-US" dirty="0"/>
          </a:p>
          <a:p>
            <a:endParaRPr lang="en-US" altLang="en-US" dirty="0"/>
          </a:p>
          <a:p>
            <a:r>
              <a:rPr lang="en-US" altLang="en-US" dirty="0"/>
              <a:t>Multi-Agent Collaboration:</a:t>
            </a:r>
            <a:endParaRPr lang="en-US" altLang="en-US" dirty="0"/>
          </a:p>
          <a:p>
            <a:endParaRPr lang="en-US" altLang="en-US" dirty="0"/>
          </a:p>
          <a:p>
            <a:r>
              <a:rPr lang="en-US" altLang="en-US" dirty="0"/>
              <a:t>Agent 1 (Predictor): Calculates risk score.</a:t>
            </a:r>
            <a:endParaRPr lang="en-US" altLang="en-US" dirty="0"/>
          </a:p>
          <a:p>
            <a:endParaRPr lang="en-US" altLang="en-US" dirty="0"/>
          </a:p>
          <a:p>
            <a:r>
              <a:rPr lang="en-US" altLang="en-US" dirty="0"/>
              <a:t>Agent 2 (Explainer): Uses SHAP to find key drivers.</a:t>
            </a:r>
            <a:endParaRPr lang="en-US" altLang="en-US" dirty="0"/>
          </a:p>
          <a:p>
            <a:endParaRPr lang="en-US" altLang="en-US" dirty="0"/>
          </a:p>
          <a:p>
            <a:r>
              <a:rPr lang="en-US" altLang="en-US" dirty="0"/>
              <a:t>Agent 3 (Advisor): Generates the "improvement plan" for the user.</a:t>
            </a:r>
            <a:endParaRPr lang="en-US" altLang="en-US" dirty="0"/>
          </a:p>
          <a:p>
            <a:endParaRPr lang="en-US" altLang="en-US" dirty="0"/>
          </a:p>
          <a:p>
            <a:r>
              <a:rPr lang="en-US" altLang="en-US" dirty="0"/>
              <a:t>Goal-Driven: The system doesn't just reject; it actively works toward the goal of financial inclusion by showing a path to approval.</a:t>
            </a:r>
            <a:endParaRPr lang="en-US" altLang="en-US" dirty="0"/>
          </a:p>
          <a:p>
            <a:endParaRPr lang="en-US" altLang="en-US" dirty="0"/>
          </a:p>
          <a:p>
            <a:r>
              <a:rPr lang="en-US" altLang="en-US" dirty="0"/>
              <a:t>Token Usage: ~11,761 tokens used for generating a single complex explanation and counterfactual set.</a:t>
            </a:r>
            <a:endParaRPr lang="en-US"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000"/>
              </a:lnSpc>
              <a:buClr>
                <a:srgbClr val="051D3A"/>
              </a:buClr>
              <a:buSzPts val="3500"/>
            </a:pPr>
            <a:r>
              <a:rPr lang="en-US" sz="2400" b="1">
                <a:sym typeface="Times New Roman" panose="02020603050405020304"/>
              </a:rPr>
              <a:t>Token Usage </a:t>
            </a:r>
            <a:endParaRPr sz="2400" b="1" dirty="0">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 name="Picture 1" descr="A screenshot of a computer&#10;&#10;AI-generated content may be incorrect."/>
          <p:cNvPicPr>
            <a:picLocks noChangeAspect="1"/>
          </p:cNvPicPr>
          <p:nvPr/>
        </p:nvPicPr>
        <p:blipFill>
          <a:blip r:embed="rId1"/>
          <a:stretch>
            <a:fillRect/>
          </a:stretch>
        </p:blipFill>
        <p:spPr>
          <a:xfrm>
            <a:off x="797873" y="1572554"/>
            <a:ext cx="4579423" cy="2822245"/>
          </a:xfrm>
          <a:prstGeom prst="rect">
            <a:avLst/>
          </a:prstGeom>
        </p:spPr>
      </p:pic>
      <p:pic>
        <p:nvPicPr>
          <p:cNvPr id="3" name="Picture 2" descr="A screenshot of a computer&#10;&#10;AI-generated content may be incorrect."/>
          <p:cNvPicPr>
            <a:picLocks noChangeAspect="1"/>
          </p:cNvPicPr>
          <p:nvPr/>
        </p:nvPicPr>
        <p:blipFill>
          <a:blip r:embed="rId2"/>
          <a:stretch>
            <a:fillRect/>
          </a:stretch>
        </p:blipFill>
        <p:spPr>
          <a:xfrm>
            <a:off x="6121978" y="1562409"/>
            <a:ext cx="5074227" cy="2812844"/>
          </a:xfrm>
          <a:prstGeom prst="rect">
            <a:avLst/>
          </a:prstGeom>
        </p:spPr>
      </p:pic>
      <p:sp>
        <p:nvSpPr>
          <p:cNvPr id="5" name="TextBox 4"/>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a:t>11,761 token are used</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TextBox 1"/>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p:cNvSpPr txBox="1"/>
          <p:nvPr/>
        </p:nvSpPr>
        <p:spPr>
          <a:xfrm>
            <a:off x="777240" y="1207008"/>
            <a:ext cx="11301984" cy="4615815"/>
          </a:xfrm>
          <a:prstGeom prst="rect">
            <a:avLst/>
          </a:prstGeom>
          <a:noFill/>
        </p:spPr>
        <p:txBody>
          <a:bodyPr wrap="square" rtlCol="0">
            <a:spAutoFit/>
          </a:bodyPr>
          <a:lstStyle/>
          <a:p>
            <a:r>
              <a:rPr lang="en-US" altLang="en-US" dirty="0"/>
              <a:t>XLoan-AI introduces several groundbreaking innovations that distinguish it from conventional loan approval systems. Unlike traditional black-box models that simply output a "rejected" decision with no explanation, XLoan-AI provides complete transparency by translating complex model signals into human-readable reasons, such as explaining exactly which financial factor caused the rejection. While existing systems passively inherit and amplify historical biases present in training data, XLoan-AI actively monitors fairness in real-time using statistical parity and disparate impact metrics, flagging potential discrimination across gender, region, or income groups before it affects decisions.</a:t>
            </a:r>
            <a:endParaRPr lang="en-US" altLang="en-US" dirty="0"/>
          </a:p>
          <a:p>
            <a:endParaRPr lang="en-US" altLang="en-US" dirty="0"/>
          </a:p>
          <a:p>
            <a:r>
              <a:rPr lang="en-US" altLang="en-US" dirty="0"/>
              <a:t>Another major differentiator is the inclusion of a counterfactual recommendation engine. Legacy systems offer rejected applicants no guidance whatsoever, leaving them frustrated and financially excluded. XLoan-AI, however, generates specific, actionable suggestions such as "increase your credit score by 30 points" or "add a co-applicant to improve income qualification," effectively providing a clear roadmap toward future approval. Architecturally, most existing solutions rely on single, monolithic models that cannot explain themselves. XLoan-AI breaks new ground by combining the predictive accuracy of XGBoost with the reasoning power of IBM Granite models orchestrated through LangFlow, creating a true multi-agent system where specialized agents collaborate for prediction, explanation, fairness checking, and advisory functions.</a:t>
            </a:r>
            <a:endParaRPr lang="en-US" altLang="en-US" dirty="0"/>
          </a:p>
          <a:p>
            <a:endParaRPr lang="en-US" altLang="en-US" dirty="0"/>
          </a:p>
          <a:p>
            <a:r>
              <a:rPr lang="en-US" altLang="en-US" dirty="0"/>
              <a:t>Furthermore, while conventional lending systems pose high regulatory risks due to their unexplainable nature, XLoan-AI is built from the ground up for compliance with RBI guidelines, GDPR, and fair lending laws, complete with audit trails and human-in-the-loop oversight. The unique value proposition of XLoan-AI lies in being the first system that not only predicts loan outcomes with 87.5% accuracy but also empowers rejected applicants with a real, actionable roadmap to approval, thereby promoting financial inclusion rather than perpetuating exclusion.</a:t>
            </a:r>
            <a:endParaRPr lang="en-US" altLang="en-US" dirty="0"/>
          </a:p>
          <a:p>
            <a:endParaRPr lang="en-US" altLang="en-US" dirty="0"/>
          </a:p>
          <a:p>
            <a:endParaRPr lang="en-US"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000"/>
              </a:lnSpc>
              <a:spcBef>
                <a:spcPts val="0"/>
              </a:spcBef>
              <a:spcAft>
                <a:spcPts val="0"/>
              </a:spcAft>
              <a:buClr>
                <a:srgbClr val="051D3A"/>
              </a:buClr>
              <a:buSzPts val="3500"/>
              <a:buFont typeface="Times New Roman" panose="02020603050405020304"/>
              <a:buNone/>
            </a:pPr>
            <a:r>
              <a:rPr lang="en-US" sz="2400" b="1" dirty="0">
                <a:sym typeface="Times New Roman" panose="02020603050405020304"/>
              </a:rPr>
              <a:t>Git Hub Link</a:t>
            </a:r>
            <a:endParaRPr sz="2400" b="1" dirty="0">
              <a:sym typeface="Times New Roman" panose="02020603050405020304"/>
            </a:endParaRPr>
          </a:p>
        </p:txBody>
      </p:sp>
      <p:sp>
        <p:nvSpPr>
          <p:cNvPr id="279" name="Google Shape;279;p18"/>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r>
              <a:rPr lang="en-US" sz="1850"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 </a:t>
            </a:r>
            <a:r>
              <a:rPr lang="en-US" sz="1850" dirty="0" err="1">
                <a:solidFill>
                  <a:srgbClr val="2B3541"/>
                </a:solidFill>
                <a:latin typeface="Times New Roman" panose="02020603050405020304"/>
                <a:ea typeface="Times New Roman" panose="02020603050405020304"/>
                <a:cs typeface="Times New Roman" panose="02020603050405020304"/>
                <a:sym typeface="Times New Roman" panose="02020603050405020304"/>
              </a:rPr>
              <a:t>Github</a:t>
            </a:r>
            <a:r>
              <a:rPr lang="en-US" sz="1850"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 URL –</a:t>
            </a:r>
            <a:r>
              <a:rPr lang="en-IN" altLang="en-US" sz="1850"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 </a:t>
            </a:r>
            <a:r>
              <a:rPr lang="en-US" altLang="en-US" sz="1850"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https://github.com/Sreeja1308/XLOAN-AI</a:t>
            </a:r>
            <a:endParaRPr lang="en-US" altLang="en-US" sz="1850" dirty="0">
              <a:solidFill>
                <a:srgbClr val="2B354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endParaRPr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000"/>
              </a:lnSpc>
              <a:spcBef>
                <a:spcPts val="0"/>
              </a:spcBef>
              <a:spcAft>
                <a:spcPts val="0"/>
              </a:spcAft>
              <a:buClr>
                <a:srgbClr val="051D3A"/>
              </a:buClr>
              <a:buSzPts val="3500"/>
              <a:buFont typeface="Times New Roman" panose="02020603050405020304"/>
              <a:buNone/>
            </a:pPr>
            <a:r>
              <a:rPr lang="en-US" sz="2400" b="1" dirty="0">
                <a:sym typeface="Times New Roman" panose="02020603050405020304"/>
              </a:rPr>
              <a:t>Future Scope </a:t>
            </a:r>
            <a:endParaRPr sz="2400" b="1" dirty="0">
              <a:sym typeface="Times New Roman" panose="02020603050405020304"/>
            </a:endParaRPr>
          </a:p>
        </p:txBody>
      </p:sp>
      <p:sp>
        <p:nvSpPr>
          <p:cNvPr id="279" name="Google Shape;279;p18"/>
          <p:cNvSpPr/>
          <p:nvPr/>
        </p:nvSpPr>
        <p:spPr>
          <a:xfrm>
            <a:off x="135334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Current Results (Prototype)</a:t>
            </a:r>
            <a:endParaRPr lang="en-US"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r>
              <a:rPr lang="en-US"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Model Accuracy: 87.5% (XGBoost)</a:t>
            </a:r>
            <a:endParaRPr lang="en-US"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r>
              <a:rPr lang="en-US"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Fairness Metric: Disparate Impact Ratio of 0.75 (Meets 80% rule)</a:t>
            </a:r>
            <a:endParaRPr lang="en-US"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r>
              <a:rPr lang="en-US"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Response Time: ~92ms per prediction (Real-time)</a:t>
            </a:r>
            <a:endParaRPr lang="en-US"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r>
              <a:rPr lang="en-US"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User Satisfaction: 4.6 / 5 (Test users valued the "Why" explanations)</a:t>
            </a:r>
            <a:endParaRPr lang="en-US"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r>
              <a:rPr lang="en-US"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Future Scope</a:t>
            </a:r>
            <a:endParaRPr lang="en-US"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r>
              <a:rPr lang="en-US"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Multimodal Input: Upload bank statements (PDFs) or payslips directly via the Granite vision agent.</a:t>
            </a:r>
            <a:endParaRPr lang="en-US"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r>
              <a:rPr lang="en-US"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Dynamic LLM Fine-tuning: Fine-tune Granite specifically on RBI's fair lending guidelines for better regulatory alignment.</a:t>
            </a:r>
            <a:endParaRPr lang="en-US"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62000"/>
              </a:lnSpc>
              <a:spcBef>
                <a:spcPts val="0"/>
              </a:spcBef>
              <a:spcAft>
                <a:spcPts val="0"/>
              </a:spcAft>
              <a:buClr>
                <a:srgbClr val="2B3541"/>
              </a:buClr>
              <a:buSzPts val="1850"/>
              <a:buFont typeface="Times New Roman" panose="02020603050405020304"/>
              <a:buNone/>
            </a:pPr>
            <a:r>
              <a:rPr lang="en-US"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Voice Assistant: Enable a voice-based loan officer assistant for rural banking kiosks.</a:t>
            </a:r>
            <a:endParaRPr lang="en-US" altLang="en-US"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0" name="Google Shape;280;p18"/>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18"/>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2" name="Google Shape;282;p18"/>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000"/>
              </a:lnSpc>
              <a:spcBef>
                <a:spcPts val="0"/>
              </a:spcBef>
              <a:spcAft>
                <a:spcPts val="0"/>
              </a:spcAft>
              <a:buClr>
                <a:srgbClr val="2B3541"/>
              </a:buClr>
              <a:buSzPts val="1850"/>
              <a:buFont typeface="Times New Roman" panose="02020603050405020304"/>
              <a:buNone/>
            </a:pPr>
            <a:r>
              <a:rPr lang="en-US" sz="1850" b="0" i="0" u="none" strike="noStrike" cap="none" dirty="0">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sz="185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1"/>
          <a:srcRect/>
          <a:stretch>
            <a:fill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8944</Words>
  <Application>WPS Presentation</Application>
  <PresentationFormat>Widescreen</PresentationFormat>
  <Paragraphs>195</Paragraphs>
  <Slides>14</Slides>
  <Notes>13</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14</vt:i4>
      </vt:variant>
    </vt:vector>
  </HeadingPairs>
  <TitlesOfParts>
    <vt:vector size="26" baseType="lpstr">
      <vt:lpstr>Arial</vt:lpstr>
      <vt:lpstr>SimSun</vt:lpstr>
      <vt:lpstr>Wingdings</vt:lpstr>
      <vt:lpstr>Arial</vt:lpstr>
      <vt:lpstr>Calibri</vt:lpstr>
      <vt:lpstr>Times New Roman</vt:lpstr>
      <vt:lpstr>Microsoft YaHei</vt:lpstr>
      <vt:lpstr>Arial Unicode MS</vt:lpstr>
      <vt:lpstr>quote-cjk-patch</vt:lpstr>
      <vt:lpstr>Segoe Print</vt:lpstr>
      <vt:lpstr>Times New Roman</vt:lpstr>
      <vt:lpstr>Office Theme</vt:lpstr>
      <vt:lpstr>IBM University Engagement Project Submission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Sreeja Lingampally</cp:lastModifiedBy>
  <cp:revision>42</cp:revision>
  <dcterms:created xsi:type="dcterms:W3CDTF">2025-07-08T05:06:00Z</dcterms:created>
  <dcterms:modified xsi:type="dcterms:W3CDTF">2026-06-12T12:26:33Z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5938299F147F48DE857506413BC38BED_12</vt:lpwstr>
  </property>
</Properties>
</file>